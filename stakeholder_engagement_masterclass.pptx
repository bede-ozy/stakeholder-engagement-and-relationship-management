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Set the executive tone: stakeholder engagement is not political people-pleasing, but a rigorous public-sector administrative discipline.</a:t>
            </a:r>
          </a:p>
          <a:p/>
          <a:p>
            <a:r>
              <a:t>FACILITATOR TALKING POINTS:</a:t>
            </a:r>
          </a:p>
          <a:p>
            <a:r>
              <a:t>- Welcome delegates to this National Leadership Masterclass. Establish executive authority immediately.</a:t>
            </a:r>
          </a:p>
          <a:p>
            <a:r>
              <a:t>- Emphasize the core thesis: Good policy fails when administrators focus solely on technical brilliance while ignoring the human and institutional ecosystem.</a:t>
            </a:r>
          </a:p>
          <a:p>
            <a:r>
              <a:t>- Highlight the 4 foundational pillars: Administrative Procedures + Stakeholder Engagement + Emotional Intelligence + Decision Making.</a:t>
            </a:r>
          </a:p>
          <a:p>
            <a:r>
              <a:t>- Suggested time: 2-3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A technically sound policy without stakeholder alignment collapses at the point of execution.</a:t>
            </a:r>
          </a:p>
          <a:p/>
          <a:p>
            <a:r>
              <a:t>FACILITATOR TALKING POINTS:</a:t>
            </a:r>
          </a:p>
          <a:p>
            <a:r>
              <a:t>- Walk delegates through the 5 cascading failure points.</a:t>
            </a:r>
          </a:p>
          <a:p>
            <a:r>
              <a:t>- Give a relatable civil service example: An ERP or digital attendance policy launched without labour union consultation.</a:t>
            </a:r>
          </a:p>
          <a:p>
            <a:r>
              <a:t>- Emphasize: Approval in council is 10% of the journey; 90% is managing human implementation.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Expand the mental map beyond immediate hierarchical superiors to all 4 distinct quadrants of public value.</a:t>
            </a:r>
          </a:p>
          <a:p/>
          <a:p>
            <a:r>
              <a:t>FACILITATOR TALKING POINTS:</a:t>
            </a:r>
          </a:p>
          <a:p>
            <a:r>
              <a:t>- Challenge the narrow view that stakeholders are only ministers or permanent secretaries.</a:t>
            </a:r>
          </a:p>
          <a:p>
            <a:r>
              <a:t>- Highlight internal implementers: Ignoring field officers often leads to quiet departmental resistance.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Engagement is not one-size-fits-all. Calibrate engagement levels to avoid superficial communication or bureaucratic paralysis.</a:t>
            </a:r>
          </a:p>
          <a:p/>
          <a:p>
            <a:r>
              <a:t>FACILITATOR TALKING POINTS:</a:t>
            </a:r>
          </a:p>
          <a:p>
            <a:r>
              <a:t>- Explain the 4 progressive levels.</a:t>
            </a:r>
          </a:p>
          <a:p>
            <a:r>
              <a:t>- Highlight that trying to collaborate with everybody creates gridlock, while only informing critical stakeholders breeds resistance.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Map stakeholders systematically before committing time, political capital, and public resources.</a:t>
            </a:r>
          </a:p>
          <a:p/>
          <a:p>
            <a:r>
              <a:t>FACILITATOR TALKING POINTS:</a:t>
            </a:r>
          </a:p>
          <a:p>
            <a:r>
              <a:t>- Walk delegates through the 4 quadrants: Keep Satisfied, Manage Closely, Monitor, Keep Informed.</a:t>
            </a:r>
          </a:p>
          <a:p>
            <a:r>
              <a:t>- Golden rule before engaging: Who matters? Why do they matter? What do they need?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Positions polarize; underlying interests create the bridge for lawful administrative compromise.</a:t>
            </a:r>
          </a:p>
          <a:p/>
          <a:p>
            <a:r>
              <a:t>FACILITATOR TALKING POINTS:</a:t>
            </a:r>
          </a:p>
          <a:p>
            <a:r>
              <a:t>- Harvard Negotiation Project core insight: Position is what people say; Interest is WHY.</a:t>
            </a:r>
          </a:p>
          <a:p>
            <a:r>
              <a:t>- When a director objects, probe for the underlying institutional risk.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Emotional intelligence in the civil service is not weakness—it is strategic self-control and situational mastery.</a:t>
            </a:r>
          </a:p>
          <a:p/>
          <a:p>
            <a:r>
              <a:t>FACILITATOR TALKING POINTS:</a:t>
            </a:r>
          </a:p>
          <a:p>
            <a:r>
              <a:t>- Daniel Goleman 5-domain framework: Self-awareness -&gt; Self-control -&gt; Empathy -&gt; Social awareness -&gt; Relationship management.</a:t>
            </a:r>
          </a:p>
          <a:p>
            <a:r>
              <a:t>- If an administrator reacts defensively to criticism, they lose control of the room.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Active listening is an intelligence-gathering tool, not an act of submission.</a:t>
            </a:r>
          </a:p>
          <a:p/>
          <a:p>
            <a:r>
              <a:t>FACILITATOR TALKING POINTS:</a:t>
            </a:r>
          </a:p>
          <a:p>
            <a:r>
              <a:t>- Detail the 4-step listening cadence.</a:t>
            </a:r>
          </a:p>
          <a:p>
            <a:r>
              <a:t>- Train leaders to avoid 'That's not possible' reflex.</a:t>
            </a:r>
          </a:p>
          <a:p>
            <a:r>
              <a:t>- Listen on 3 frequencies: words, emotion, institutional need.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Do not personalize friction. Diagnose the archetype and apply the corresponding administrative antidote.</a:t>
            </a:r>
          </a:p>
          <a:p/>
          <a:p>
            <a:r>
              <a:t>FACILITATOR TALKING POINTS:</a:t>
            </a:r>
          </a:p>
          <a:p>
            <a:r>
              <a:t>- Walk delegates through the 5 tactical archetypes.</a:t>
            </a:r>
          </a:p>
          <a:p>
            <a:r>
              <a:t>- Deliver the key rule: Never match emotional intensity with emotional intensity.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Disagreement is evidence of diverse institutional stakes. The goal is to make disagreement productive.</a:t>
            </a:r>
          </a:p>
          <a:p/>
          <a:p>
            <a:r>
              <a:t>FACILITATOR TALKING POINTS:</a:t>
            </a:r>
          </a:p>
          <a:p>
            <a:r>
              <a:t>- Demonstrate the inquiry ladder: No -&gt; Why -&gt; What Concerns You -&gt; What Would Address That.</a:t>
            </a:r>
          </a:p>
          <a:p>
            <a:r>
              <a:t>- Co-created solutions drastically increase implementation compliance.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Run every policy, project, and circular through the 6-question diagnostic filter before final approval.</a:t>
            </a:r>
          </a:p>
          <a:p/>
          <a:p>
            <a:r>
              <a:t>FACILITATOR TALKING POINTS:</a:t>
            </a:r>
          </a:p>
          <a:p>
            <a:r>
              <a:t>- Review the 6 diagnostic questions.</a:t>
            </a:r>
          </a:p>
          <a:p>
            <a:r>
              <a:t>- Show how they converge into a sustainable, lawful decision.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Public sector trust is a multiplicative equation—if any single component is zero, total trust collapses.</a:t>
            </a:r>
          </a:p>
          <a:p/>
          <a:p>
            <a:r>
              <a:t>FACILITATOR TALKING POINTS:</a:t>
            </a:r>
          </a:p>
          <a:p>
            <a:r>
              <a:t>- Explain the mathematical reality: Competence * Fairness * Transparency * Responsiveness * Consistency = TRUST.</a:t>
            </a:r>
          </a:p>
          <a:p>
            <a:r>
              <a:t>- If transparency or fairness is zero, overall public trust is zero.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Stakeholder engagement is not an imported novelty; it is enshrined in our Public Service Rules and SERVICOM Charters.</a:t>
            </a:r>
          </a:p>
          <a:p/>
          <a:p>
            <a:r>
              <a:t>FACILITATOR TALKING POINTS:</a:t>
            </a:r>
          </a:p>
          <a:p>
            <a:r>
              <a:t>- Highlight the OHCSF Public Service Rules pillars on the left.</a:t>
            </a:r>
          </a:p>
          <a:p>
            <a:r>
              <a:t>- Connect directly to the SERVICOM citizen charter principles on the right.</a:t>
            </a:r>
          </a:p>
          <a:p>
            <a:r>
              <a:t>- Rules without empathy produce bureaucratic stagnation; empathy without rules produces chaos.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The 5R Model is your practical, repeatable 5-step operational playbook for every project and reform.</a:t>
            </a:r>
          </a:p>
          <a:p/>
          <a:p>
            <a:r>
              <a:t>FACILITATOR TALKING POINTS:</a:t>
            </a:r>
          </a:p>
          <a:p>
            <a:r>
              <a:t>- This is the signature framework of the masterclass.</a:t>
            </a:r>
          </a:p>
          <a:p>
            <a:r>
              <a:t>- Walk delegates through each R: Recognise, Read, Relate, Respond, Review.</a:t>
            </a:r>
          </a:p>
          <a:p>
            <a:r>
              <a:t>- Encourage delegates to institutionalize the 5R rhythm in their departments.</a:t>
            </a:r>
          </a:p>
          <a:p>
            <a:r>
              <a:t>- Suggested time: 4-5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The most damaging administrative mistake is holding a consultation and then disappearing into institutional silence.</a:t>
            </a:r>
          </a:p>
          <a:p/>
          <a:p>
            <a:r>
              <a:t>FACILITATOR TALKING POINTS:</a:t>
            </a:r>
          </a:p>
          <a:p>
            <a:r>
              <a:t>- Explain the 3 essential communication updates: WHAT, WHY, WHAT NEXT.</a:t>
            </a:r>
          </a:p>
          <a:p>
            <a:r>
              <a:t>- Explaining the rationale preserves relationships even when an outcome is unfavorable.</a:t>
            </a:r>
          </a:p>
          <a:p>
            <a:r>
              <a:t>- Engagement is continuous, not episodic.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Summarize the masterclass into a memorable, inspiring executive leadership charge.</a:t>
            </a:r>
          </a:p>
          <a:p/>
          <a:p>
            <a:r>
              <a:t>FACILITATOR TALKING POINTS:</a:t>
            </a:r>
          </a:p>
          <a:p>
            <a:r>
              <a:t>- Reiterate the 4 conditions: Heard, Respected, Fairly Treated, Informed.</a:t>
            </a:r>
          </a:p>
          <a:p>
            <a:r>
              <a:t>- Deliver the closing manifesto with conviction:</a:t>
            </a:r>
          </a:p>
          <a:p>
            <a:r>
              <a:t>  • ENGAGE PEOPLE.</a:t>
            </a:r>
          </a:p>
          <a:p>
            <a:r>
              <a:t>  • UNDERSTAND INTERESTS.</a:t>
            </a:r>
          </a:p>
          <a:p>
            <a:r>
              <a:t>  • MANAGE EMOTIONS.</a:t>
            </a:r>
          </a:p>
          <a:p>
            <a:r>
              <a:t>  • RESPECT PROCEDURE.</a:t>
            </a:r>
          </a:p>
          <a:p>
            <a:r>
              <a:t>  • MAKE BETTER DECISIONS.</a:t>
            </a:r>
          </a:p>
          <a:p>
            <a:r>
              <a:t>- Open the floor for executive Q&amp;A and discussion.</a:t>
            </a:r>
          </a:p>
          <a:p>
            <a:r>
              <a:t>- Suggested time: 2-3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46704" y="1005840"/>
            <a:ext cx="5486400" cy="365760"/>
          </a:xfrm>
          <a:prstGeom prst="roundRect">
            <a:avLst/>
          </a:prstGeom>
          <a:solidFill>
            <a:srgbClr val="0E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NATIONAL PUBLIC SERVICE LEADERSHIP CONFERENCE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8FAFC"/>
                </a:solidFill>
              </a:defRPr>
            </a:pPr>
            <a:r>
              <a:t>Stakeholder Engagement &amp; Relationship Management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38BDF8"/>
                </a:solidFill>
              </a:defRPr>
            </a:pPr>
            <a:r>
              <a:t>IN THE CIVIL SERVICE</a:t>
            </a:r>
          </a:p>
          <a:p>
            <a:pPr algn="ctr">
              <a:spcBef>
                <a:spcPts val="1000"/>
              </a:spcBef>
              <a:defRPr sz="1500">
                <a:solidFill>
                  <a:srgbClr val="CBD5E1"/>
                </a:solidFill>
              </a:defRPr>
            </a:pPr>
            <a:r>
              <a:t>Building trust. Managing relationships. Making better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9445752" cy="7772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Administrative Procedures  +  Stakeholder Engagement  +  Emotional Intelligence  +  Decision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Mastering Administrative Procedures &amp; Emotional Intelligence for Decision 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EXECUTIVE REALITY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A GOOD DECISION CAN STILL FAIL.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920240" cy="21945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Bef>
                <a:spcPts val="2800"/>
              </a:spcBef>
              <a:defRPr sz="1400" b="1">
                <a:solidFill>
                  <a:srgbClr val="F8FAFC"/>
                </a:solidFill>
              </a:defRPr>
            </a:pPr>
            <a:r>
              <a:t>Wrong people consulted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920240"/>
            <a:ext cx="1920240" cy="21945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Bef>
                <a:spcPts val="2800"/>
              </a:spcBef>
              <a:defRPr sz="1400" b="1">
                <a:solidFill>
                  <a:srgbClr val="F8FAFC"/>
                </a:solidFill>
              </a:defRPr>
            </a:pPr>
            <a:r>
              <a:t>Concerns ignored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920240"/>
            <a:ext cx="1920240" cy="21945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spcBef>
                <a:spcPts val="2800"/>
              </a:spcBef>
              <a:defRPr sz="1400" b="1">
                <a:solidFill>
                  <a:srgbClr val="F8FAFC"/>
                </a:solidFill>
              </a:defRPr>
            </a:pPr>
            <a:r>
              <a:t>Expectations unmanaged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920240"/>
            <a:ext cx="1920240" cy="21945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04</a:t>
            </a:r>
          </a:p>
          <a:p>
            <a:pPr>
              <a:spcBef>
                <a:spcPts val="2800"/>
              </a:spcBef>
              <a:defRPr sz="1400" b="1">
                <a:solidFill>
                  <a:srgbClr val="F8FAFC"/>
                </a:solidFill>
              </a:defRPr>
            </a:pPr>
            <a:r>
              <a:t>Communication delayed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920240"/>
            <a:ext cx="1920240" cy="2194560"/>
          </a:xfrm>
          <a:prstGeom prst="roundRect">
            <a:avLst/>
          </a:prstGeom>
          <a:solidFill>
            <a:srgbClr val="0E172A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05</a:t>
            </a:r>
          </a:p>
          <a:p>
            <a:pPr>
              <a:spcBef>
                <a:spcPts val="2800"/>
              </a:spcBef>
              <a:defRPr sz="1400" b="1">
                <a:solidFill>
                  <a:srgbClr val="F8FAFC"/>
                </a:solidFill>
              </a:defRPr>
            </a:pPr>
            <a:r>
              <a:t>Implementation problems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0E172A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Decision ≠ Implementation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Flawless administrative intent collapses when the stakeholders tasked with execution are treated as an afterthought.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ECOSYSTEM MAPPING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Anyone Who Can Affect or Be Affected.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572000" cy="19202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INTERNAL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Civil servants</a:t>
            </a:r>
            <a:br/>
            <a:r>
              <a:t>Managers</a:t>
            </a:r>
            <a:br/>
            <a:r>
              <a:t>Departments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4572000" cy="19202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GOVERNMENT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MDAs</a:t>
            </a:r>
            <a:br/>
            <a:r>
              <a:t>Regulators</a:t>
            </a:r>
            <a:br/>
            <a:r>
              <a:t>Legislators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572000" cy="19202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EXTERNAL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Citizens</a:t>
            </a:r>
            <a:br/>
            <a:r>
              <a:t>Communities</a:t>
            </a:r>
            <a:br/>
            <a:r>
              <a:t>Businesses &amp; CSOs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114800"/>
            <a:ext cx="4572000" cy="19202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IMPLEMENTERS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Contractors</a:t>
            </a:r>
            <a:br/>
            <a:r>
              <a:t>Partners</a:t>
            </a:r>
            <a:br/>
            <a:r>
              <a:t>Service providers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ENGAGEMENT ARCHITECTURE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INFORM → CONSULT → INVOLVE → COLLABORATE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42032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LEVEL 1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INFORM</a:t>
            </a:r>
          </a:p>
          <a:p>
            <a:pPr>
              <a:spcBef>
                <a:spcPts val="800"/>
              </a:spcBef>
              <a:defRPr sz="1300" b="1">
                <a:solidFill>
                  <a:srgbClr val="38BDF8"/>
                </a:solidFill>
              </a:defRPr>
            </a:pPr>
            <a:r>
              <a:t>“We're doing this.”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Notices, gazettes, policy circulars, transparent information sharing.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920240"/>
            <a:ext cx="2542032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LEVEL 2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CONSULT</a:t>
            </a:r>
          </a:p>
          <a:p>
            <a:pPr>
              <a:spcBef>
                <a:spcPts val="800"/>
              </a:spcBef>
              <a:defRPr sz="1300" b="1">
                <a:solidFill>
                  <a:srgbClr val="38BDF8"/>
                </a:solidFill>
              </a:defRPr>
            </a:pPr>
            <a:r>
              <a:t>“What do you think?”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Public hearings, memorandums, citizen surveys, structured MDA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920240"/>
            <a:ext cx="2542032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LEVEL 3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INVOLVE</a:t>
            </a:r>
          </a:p>
          <a:p>
            <a:pPr>
              <a:spcBef>
                <a:spcPts val="800"/>
              </a:spcBef>
              <a:defRPr sz="1300" b="1">
                <a:solidFill>
                  <a:srgbClr val="38BDF8"/>
                </a:solidFill>
              </a:defRPr>
            </a:pPr>
            <a:r>
              <a:t>“Let's work through it.”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Multi-stakeholder roundtables, technical workshops, working 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920240"/>
            <a:ext cx="2542032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LEVEL 4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COLLABORATE</a:t>
            </a:r>
          </a:p>
          <a:p>
            <a:pPr>
              <a:spcBef>
                <a:spcPts val="800"/>
              </a:spcBef>
              <a:defRPr sz="1300" b="1">
                <a:solidFill>
                  <a:srgbClr val="38BDF8"/>
                </a:solidFill>
              </a:defRPr>
            </a:pPr>
            <a:r>
              <a:t>“Let's build it together.”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Joint implementation taskforces, shared accountability, co-design.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0E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“Not every stakeholder needs the same level of engagement.”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STRATEGIC PRIORITISATION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POWER × INTEREST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4663440" cy="17373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HIGH POWER • LOW INTEREST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KEEP SATISFIED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Brief regularly, avoid surprise announcements, protect priorities.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663440" cy="1737360"/>
          </a:xfrm>
          <a:prstGeom prst="roundRect">
            <a:avLst/>
          </a:prstGeom>
          <a:solidFill>
            <a:srgbClr val="0E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HIGH POWER • HIGH INTEREST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MANAGE CLOSELY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Key decision-makers, continuous dialogue, regular joint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931920"/>
            <a:ext cx="4663440" cy="17373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LOW POWER • LOW INTEREST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MONITOR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General updates, track sentiment changes, low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31920"/>
            <a:ext cx="4663440" cy="17373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LOW POWER • HIGH INTEREST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KEEP INFORMED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Empathetic consultation, clear updates, address operational concerns.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NEGOTIATION &amp; ALIGNMENT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POSITION ≠ INTEREST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847" y="1828800"/>
            <a:ext cx="9144000" cy="914400"/>
          </a:xfrm>
          <a:prstGeom prst="roundRect">
            <a:avLst/>
          </a:prstGeom>
          <a:solidFill>
            <a:srgbClr val="0E172A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SURFACE POSITION: “I DON'T SUPPORT THIS POLICY.”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What is stated publicly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09647" y="3017520"/>
            <a:ext cx="7772400" cy="914400"/>
          </a:xfrm>
          <a:prstGeom prst="roundRect">
            <a:avLst/>
          </a:prstGeom>
          <a:solidFill>
            <a:srgbClr val="0E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OPERATIONAL CONCERN: “My department will carry the implementation risk.”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The anxiety beneath the resistance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5447" y="4206240"/>
            <a:ext cx="6400800" cy="914400"/>
          </a:xfrm>
          <a:prstGeom prst="roundRect">
            <a:avLst/>
          </a:prstGeom>
          <a:solidFill>
            <a:srgbClr val="0E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UNDERLYING NEED: Clarity  •  Resources  •  Accountability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Where collaborative solutions are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Listen beneath the words.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Positions create deadlock. Understanding underlying interests reveals administrative pathways forward.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LEADERSHIP MATURITY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MANAGE YOURSELF BEFORE MANAGING THE 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292608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SELF-AWARENESS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Recognise personal emotional triggers and defensiveness.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011680"/>
            <a:ext cx="2011680" cy="292608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2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SELF-CONTROL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Maintain procedural calm under political tension.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11680"/>
            <a:ext cx="2011680" cy="292608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3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EMPATHY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Accurately understand the stakeholder's institutional pressures.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2011680"/>
            <a:ext cx="2011680" cy="292608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SOCIAL AWARENESS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Read power hierarchies and informal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2011680"/>
            <a:ext cx="2011680" cy="292608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5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RELATIONSHIP MGMT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Steer complex discussions toward lawful public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0E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Emotionally intelligent ≠ agreeing with everyone.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ADMINISTRATIVE DIALOGUE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LISTEN → CLARIFY → REFLECT → RESPOND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42032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LISTEN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Hear without interrupting or formulating defensive rebuttals.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28800"/>
            <a:ext cx="2542032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STEP 2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CLARIFY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Ask diagnostic questions to unpack technical or budgetary ambiguities.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828800"/>
            <a:ext cx="2542032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STEP 3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REFLECT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Restate their core concerns to confirm accurate shared understanding.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828800"/>
            <a:ext cx="2542032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STEP 4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RESPOND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Present a reasoned administrative position anchored in procedure.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137160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43F5E"/>
                </a:solidFill>
              </a:defRPr>
            </a:pPr>
            <a:r>
              <a:t>INSTEAD OF: “That's not possible.” (Shuts down dialogue, breeds cynicism)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</a:defRPr>
            </a:pPr>
            <a:r>
              <a:t>USE: “What specifically concerns you about the proposal?” (Reveals actionable obstacles)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Listen for: What they say  •  What they mean  •  What they need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CONFLICT DE-ESCALATION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DON'T LABEL. DIAGNOSE.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11680" cy="31089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ANGRY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→ De-escalate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Lower vocal pitch, validate frustration without admitting 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920240"/>
            <a:ext cx="2011680" cy="31089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RESISTANT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→ Understand concern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Probe for past institutional letdowns or loss of departmental turf.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920240"/>
            <a:ext cx="2011680" cy="31089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BD5E1"/>
                </a:solidFill>
              </a:defRPr>
            </a:pPr>
            <a:r>
              <a:t>SILENT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→ Create space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Invite structured offline input, protect junior officers from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920240"/>
            <a:ext cx="2011680" cy="31089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DOMINANT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→ Structure talk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Enforce meeting standing orders, implement strict time allocations.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920240"/>
            <a:ext cx="2011680" cy="310896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UNREASONABLE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→ Set boundaries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Anchor firmly on Public Service Rules, statutory mandates, and legal remits.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0E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Don't match emotional intensity with emotional intensity.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CONSTRUCTIVE DELIBERATION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MOVE FROM POSITIONS → INTERESTS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42032" cy="25603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“NO.”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Positional Defense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11680"/>
            <a:ext cx="2542032" cy="25603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“WHY?”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Curious Diagnostic Inquiry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011680"/>
            <a:ext cx="2542032" cy="25603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“WHAT CONCERNS YOU?”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Unpacking Underlying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011680"/>
            <a:ext cx="2542032" cy="25603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“WHAT WOULD ADDRESS THAT CONCERN?”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Co-Creating the Administrative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The goal isn't to eliminate disagreement.  |  Make disagreement productive.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DECISION-MAKING FILTER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BEFORE YOU DECIDE, ASK: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37160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WHO?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Who will be affected?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Direct, indirect, and vulnerable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137160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WHY?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What are their interests?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Motivations, priorities, citizen stakes.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137160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WHAT?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What evidence do we have?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Data, metrics, administrative precedents.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383280" cy="137160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RISK?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What could go wrong?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Operational bottlenecks, political fallout.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474720"/>
            <a:ext cx="3383280" cy="137160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RULES?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What does procedure require?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Public Service Rules, procurement laws.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474720"/>
            <a:ext cx="3383280" cy="137160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IMPLEMENTATION?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Can this actually work?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Budgetary backing, field-level practicality.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0E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BETTER DECISION: Legitimate • Implementable • Sustainable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INSTITUTIONAL CURRENCY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THE TRUST EQUATION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554480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COMPETENCE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Technical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194560"/>
            <a:ext cx="1554480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FAIRNESS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Impartiality &amp; equity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1554480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TRANSPARENCY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Open rules &amp; rationale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1554480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RESPONSIVENESS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Timely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1554480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CONSISTENCY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Reliability over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2103120"/>
            <a:ext cx="1554480" cy="1828800"/>
          </a:xfrm>
          <a:prstGeom prst="roundRect">
            <a:avLst/>
          </a:prstGeom>
          <a:solidFill>
            <a:srgbClr val="0E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59E0B"/>
                </a:solidFill>
              </a:defRPr>
            </a:pPr>
            <a:r>
              <a:t>OUTCOME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F8FAFC"/>
                </a:solidFill>
              </a:defRPr>
            </a:pPr>
            <a:r>
              <a:t>TRUST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69848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Every interaction either builds trust or erodes trust.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INSTITUTIONAL FOUNDATIONS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ENGAGEMENT IS PART OF GOOD PUBLIC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2918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PUBLIC SERVICE RULES (OHCSF)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Efficiency — Minimising procedural friction and delay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Effectiveness — Delivering tangible public sector outcomes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Performance — Measuring delivery against national mandates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Due Process — Strict fidelity to legal standards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Probity — Uncompromising ethics and public integrity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32918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SERVICOM CITIZEN COMPACT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Service Standards — Clear published commitments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Citizen Expectations — Aligning delivery to public needs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Complaints — Robust grievance redress mechanisms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Feedback — Systematic data informing reform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Service Improvement — Continuous MDA modernization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“Good administration must work for people, not only on paper.”</a:t>
            </a:r>
            <a:br/>
            <a:r>
              <a:t>Sources: OHCSF Public Service Rules; SERVICOM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SIGNATURE PLAYBOOK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THE 5R MODEL: A Practical Stakeholder Management Playbook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R1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RECOGNISE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Who matters?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Identify statutory authorities, informal power brokers, and silent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011680"/>
            <a:ext cx="2011680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R2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READ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What do they need?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Decode hidden departmental risks and underlying interests.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11680"/>
            <a:ext cx="2011680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R3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RELATE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How build trust?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Deploy emotional intelligence, active listening, and procedural fairness.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2011680"/>
            <a:ext cx="2011680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R4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RESPOND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How engage &amp; decide?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Synthesize evidence, adhere to rules, and articulate balanced trade-offs.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2011680"/>
            <a:ext cx="2011680" cy="3017520"/>
          </a:xfrm>
          <a:prstGeom prst="roundRect">
            <a:avLst/>
          </a:prstGeom>
          <a:solidFill>
            <a:srgbClr val="0E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R5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REVIEW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What did we learn?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Assess implementation impact and close the feedback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0E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RECOGNISE → READ → RELATE → RESPOND →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CLOSING THE LOOP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AFTER THE MEETING, CLOSE THE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14630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LISTEN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Capture concerns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828800"/>
            <a:ext cx="2011680" cy="14630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DECIDE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Apply rules &amp; judgment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828800"/>
            <a:ext cx="2011680" cy="14630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COMMUNICATE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Share the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828800"/>
            <a:ext cx="2011680" cy="14630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04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ACT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Execute agreed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828800"/>
            <a:ext cx="2011680" cy="146304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05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FOLLOW UP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Report progress 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1645920"/>
          </a:xfrm>
          <a:prstGeom prst="roundRect">
            <a:avLst/>
          </a:prstGeom>
          <a:solidFill>
            <a:srgbClr val="0E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Tell stakeholders:</a:t>
            </a:r>
          </a:p>
          <a:p>
            <a:pPr>
              <a:spcBef>
                <a:spcPts val="800"/>
              </a:spcBef>
              <a:defRPr sz="1700" b="1">
                <a:solidFill>
                  <a:srgbClr val="38BDF8"/>
                </a:solidFill>
              </a:defRPr>
            </a:pPr>
            <a:r>
              <a:t>WHAT was decided    |    WHY it was decided    |    WHAT happens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Stakeholder engagement is a continuous institutional discipline, not a one-time meeting.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</a:defRPr>
            </a:pPr>
            <a:r>
              <a:t>PEOPLE SUPPORT WHAT THEY UNDERSTAND.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011680"/>
            <a:ext cx="8531352" cy="685800"/>
          </a:xfrm>
          <a:prstGeom prst="roundRect">
            <a:avLst/>
          </a:prstGeom>
          <a:solidFill>
            <a:srgbClr val="0E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HEARD   •   RESPECTED   •   FAIRLY TREATED   •   INFORMED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BD5E1"/>
                </a:solidFill>
              </a:defRPr>
            </a:pPr>
            <a:r>
              <a:t>ENGAGE PEOPLE.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CBD5E1"/>
                </a:solidFill>
              </a:defRPr>
            </a:pPr>
            <a:r>
              <a:t>UNDERSTAND INTERESTS.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CBD5E1"/>
                </a:solidFill>
              </a:defRPr>
            </a:pPr>
            <a:r>
              <a:t>MANAGE EMOTIONS.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CBD5E1"/>
                </a:solidFill>
              </a:defRPr>
            </a:pPr>
            <a:r>
              <a:t>RESPECT PROCEDURE.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38BDF8"/>
                </a:solidFill>
              </a:defRPr>
            </a:pPr>
            <a:r>
              <a:t>MAKE BETTER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Thank You</a:t>
            </a:r>
            <a:br/>
            <a:r>
              <a:t>Questions, Reflections &amp; Leadership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