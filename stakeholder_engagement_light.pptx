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Set the executive tone: stakeholder engagement is not political people-pleasing, but a rigorous public-sector administrative discipline.</a:t>
            </a:r>
          </a:p>
          <a:p/>
          <a:p>
            <a:r>
              <a:t>FACILITATOR TALKING POINTS:</a:t>
            </a:r>
          </a:p>
          <a:p>
            <a:r>
              <a:t>- Welcome delegates to this National Leadership Masterclass. Establish executive authority immediately.</a:t>
            </a:r>
          </a:p>
          <a:p>
            <a:r>
              <a:t>- Emphasize the core thesis: Good policy fails when administrators focus solely on technical brilliance while ignoring the human and institutional ecosystem.</a:t>
            </a:r>
          </a:p>
          <a:p>
            <a:r>
              <a:t>- Highlight the 4 foundational pillars: Administrative Procedures + Stakeholder Engagement + Emotional Intelligence + Decision Making.</a:t>
            </a:r>
          </a:p>
          <a:p>
            <a:r>
              <a:t>- Frame the conference objective: equipping directors, permanent secretaries, and administrators with a repeatable playbook for durable governance.</a:t>
            </a:r>
          </a:p>
          <a:p>
            <a:r>
              <a:t>- Suggested time: 2-3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A technically sound policy without stakeholder alignment collapses at the point of execution.</a:t>
            </a:r>
          </a:p>
          <a:p/>
          <a:p>
            <a:r>
              <a:t>FACILITATOR TALKING POINTS:</a:t>
            </a:r>
          </a:p>
          <a:p>
            <a:r>
              <a:t>- Walk the audience through the 5 cascading failure points: Wrong people consulted → Concerns ignored → Expectations unmanaged → Communication delayed → Implementation failure.</a:t>
            </a:r>
          </a:p>
          <a:p>
            <a:r>
              <a:t>- Give a relatable civil service example: A digital attendance or ERP rollout launched without engaging labour unions or departmental desk officers.</a:t>
            </a:r>
          </a:p>
          <a:p>
            <a:r>
              <a:t>- Stress the bottom callout: 'Decision ≠ Implementation'. Approval in council or internal memo is just 10% of the journey; 90% is managing the human transition.</a:t>
            </a:r>
          </a:p>
          <a:p>
            <a:r>
              <a:t>- Suggested time: 3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Expand the mental map beyond immediate hierarchical superiors to all 4 distinct quadrants of public value.</a:t>
            </a:r>
          </a:p>
          <a:p/>
          <a:p>
            <a:r>
              <a:t>FACILITATOR TALKING POINTS:</a:t>
            </a:r>
          </a:p>
          <a:p>
            <a:r>
              <a:t>- Challenge the traditional narrow view: A stakeholder is anyone who can affect the outcome OR who will be affected by the outcome.</a:t>
            </a:r>
          </a:p>
          <a:p>
            <a:r>
              <a:t>- Break down the 4 groups: Internal (civil servants/managers), Government (sister MDAs/regulators/legislators), External (citizens/communities/CSOs), and Implementers (contractors/partners).</a:t>
            </a:r>
          </a:p>
          <a:p>
            <a:r>
              <a:t>- Point out the dangerous blindspot: Ignoring internal implementers often leads to quiet departmental sabotage.</a:t>
            </a:r>
          </a:p>
          <a:p>
            <a:r>
              <a:t>- Suggested time: 3-4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Engagement is not one-size-fits-all. Calibrate engagement levels to avoid either superficial communication or bureaucratic paralysis.</a:t>
            </a:r>
          </a:p>
          <a:p/>
          <a:p>
            <a:r>
              <a:t>FACILITATOR TALKING POINTS:</a:t>
            </a:r>
          </a:p>
          <a:p>
            <a:r>
              <a:t>- Explain the 4 levels: Inform (one-way announcements), Consult (seeking feedback), Involve (working together on options), Collaborate (joint partnership and co-design).</a:t>
            </a:r>
          </a:p>
          <a:p>
            <a:r>
              <a:t>- Quote: 'Not every stakeholder needs the same level of engagement.'</a:t>
            </a:r>
          </a:p>
          <a:p>
            <a:r>
              <a:t>- Trying to collaborate with everyone causes endless committee gridlock; only informing critical power players causes revolt.</a:t>
            </a:r>
          </a:p>
          <a:p>
            <a:r>
              <a:t>- Suggested time: 3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Map stakeholders systematically before committing time, political capital, and public resources.</a:t>
            </a:r>
          </a:p>
          <a:p/>
          <a:p>
            <a:r>
              <a:t>FACILITATOR TALKING POINTS:</a:t>
            </a:r>
          </a:p>
          <a:p>
            <a:r>
              <a:t>- Explain the 2x2 grid: Y-axis represents Power/Influence; X-axis represents Interest/Vulnerability.</a:t>
            </a:r>
          </a:p>
          <a:p>
            <a:r>
              <a:t>- Quadrant 1 (High Power / High Interest): Manage Closely. Key ministers, permanent secretaries.</a:t>
            </a:r>
          </a:p>
          <a:p>
            <a:r>
              <a:t>- Quadrant 2 (High Power / Low Interest): Keep Satisfied. Central regulators, Treasury.</a:t>
            </a:r>
          </a:p>
          <a:p>
            <a:r>
              <a:t>- Quadrant 3 (Low Power / High Interest): Keep Informed. Frontline staff, affected citizens.</a:t>
            </a:r>
          </a:p>
          <a:p>
            <a:r>
              <a:t>- Quadrant 4 (Low Power / Low Interest): Monitor. Low overhead.</a:t>
            </a:r>
          </a:p>
          <a:p>
            <a:r>
              <a:t>- Golden rule before engaging: Who matters? Why do they matter? What do they need?</a:t>
            </a:r>
          </a:p>
          <a:p>
            <a:r>
              <a:t>- Suggested time: 4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Positions polarize; underlying interests create the bridge for lawful administrative compromise.</a:t>
            </a:r>
          </a:p>
          <a:p/>
          <a:p>
            <a:r>
              <a:t>FACILITATOR TALKING POINTS:</a:t>
            </a:r>
          </a:p>
          <a:p>
            <a:r>
              <a:t>- Introduce the Harvard Negotiation Project principle: Position is what people say they want; Interest is WHY they want it.</a:t>
            </a:r>
          </a:p>
          <a:p>
            <a:r>
              <a:t>- Walk through the funnel diagram: When a Director objects, don't argue with the statement. Ask WHY.</a:t>
            </a:r>
          </a:p>
          <a:p>
            <a:r>
              <a:t>- Target the true underlying needs: Clarity, Resources, Accountability. When you solve the underlying interest, resistance evaporates.</a:t>
            </a:r>
          </a:p>
          <a:p>
            <a:r>
              <a:t>- Suggested time: 3-4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Emotional intelligence in the civil service is not weakness—it is strategic self-control and situational mastery.</a:t>
            </a:r>
          </a:p>
          <a:p/>
          <a:p>
            <a:r>
              <a:t>FACILITATOR TALKING POINTS:</a:t>
            </a:r>
          </a:p>
          <a:p>
            <a:r>
              <a:t>- Present the 5 sequential stages: Self-awareness → Self-control → Empathy → Social awareness → Relationship management.</a:t>
            </a:r>
          </a:p>
          <a:p>
            <a:r>
              <a:t>- Key phrase: 'Manage yourself before managing the room.' If an administrator reacts defensively, they surrender control of the meeting.</a:t>
            </a:r>
          </a:p>
          <a:p>
            <a:r>
              <a:t>- Emphasize: 'Emotionally intelligent ≠ agreeing with everyone.' It means understanding their emotions so you can uphold public interest firmly without creating unnecessary enemies.</a:t>
            </a:r>
          </a:p>
          <a:p>
            <a:r>
              <a:t>- Suggested time: 3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Active listening is an intelligence-gathering tool, not an act of submission.</a:t>
            </a:r>
          </a:p>
          <a:p/>
          <a:p>
            <a:r>
              <a:t>FACILITATOR TALKING POINTS:</a:t>
            </a:r>
          </a:p>
          <a:p>
            <a:r>
              <a:t>- Detail the 4-step cadence: Listen without interrupting → Clarify ambiguous terms → Reflect their core fear back → Respond with reasoned procedural facts.</a:t>
            </a:r>
          </a:p>
          <a:p>
            <a:r>
              <a:t>- Highlight the contrast box: Instead of the bureaucratic reflex 'That's not possible!', train teams to say: 'What specifically concerns you about the proposal?'</a:t>
            </a:r>
          </a:p>
          <a:p>
            <a:r>
              <a:t>- Always listen on 3 frequencies: What they say, What they mean, and What they need.</a:t>
            </a:r>
          </a:p>
          <a:p>
            <a:r>
              <a:t>- Suggested time: 3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Do not personalize friction. Diagnose the archetype and apply the corresponding administrative antidote.</a:t>
            </a:r>
          </a:p>
          <a:p/>
          <a:p>
            <a:r>
              <a:t>FACILITATOR TALKING POINTS:</a:t>
            </a:r>
          </a:p>
          <a:p>
            <a:r>
              <a:t>- Walk through the 5 tactical cards: Angry (de-escalate), Resistant (uncover past broken promises), Silent (create safe channels), Dominant (enforce meeting standing orders), Unreasonable (anchor on statutory rules).</a:t>
            </a:r>
          </a:p>
          <a:p>
            <a:r>
              <a:t>- Deliver the key rule: 'Don't match emotional intensity with emotional intensity.'</a:t>
            </a:r>
          </a:p>
          <a:p>
            <a:r>
              <a:t>- Suggested time: 4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Disagreement is evidence of diverse institutional stakes. The goal is to make disagreement productive.</a:t>
            </a:r>
          </a:p>
          <a:p/>
          <a:p>
            <a:r>
              <a:t>FACILITATOR TALKING POINTS:</a:t>
            </a:r>
          </a:p>
          <a:p>
            <a:r>
              <a:t>- Demonstrate the inquiry ladder: Turn a rigid 'NO' into curiosity by asking 'WHY?', pinpointing 'WHAT CONCERNS YOU?', and concluding with 'WHAT WOULD ADDRESS THAT CONCERN?'.</a:t>
            </a:r>
          </a:p>
          <a:p>
            <a:r>
              <a:t>- When stakeholders participate in crafting the solution, their commitment to implementation skyrockets.</a:t>
            </a:r>
          </a:p>
          <a:p>
            <a:r>
              <a:t>- Groupthink in MDAs leads to disastrous policies. Welcoming constructive pushback protects the government.</a:t>
            </a:r>
          </a:p>
          <a:p>
            <a:r>
              <a:t>- Suggested time: 3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Run every policy, project, and circular through the 6-question diagnostic filter before final approval.</a:t>
            </a:r>
          </a:p>
          <a:p/>
          <a:p>
            <a:r>
              <a:t>FACILITATOR TALKING POINTS:</a:t>
            </a:r>
          </a:p>
          <a:p>
            <a:r>
              <a:t>- Review the 6 convergence questions: WHO will be affected? WHY? WHAT evidence? RISK? RULES? IMPLEMENTATION?</a:t>
            </a:r>
          </a:p>
          <a:p>
            <a:r>
              <a:t>- Show how these 6 inputs converge into a 'BETTER DECISION' that is legitimate, lawful, sustainable, and workable.</a:t>
            </a:r>
          </a:p>
          <a:p>
            <a:r>
              <a:t>- Suggested time: 3-4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Public sector trust is a multiplicative equation—if any single component is zero, total trust collapses.</a:t>
            </a:r>
          </a:p>
          <a:p/>
          <a:p>
            <a:r>
              <a:t>FACILITATOR TALKING POINTS:</a:t>
            </a:r>
          </a:p>
          <a:p>
            <a:r>
              <a:t>- Explain the formula: Competence x Fairness x Transparency x Responsiveness x Consistency = TRUST.</a:t>
            </a:r>
          </a:p>
          <a:p>
            <a:r>
              <a:t>- Demonstrate the mathematics: You can have high technical competence, but if your transparency is zero, public trust is zero.</a:t>
            </a:r>
          </a:p>
          <a:p>
            <a:r>
              <a:t>- Bottom maxim: 'Every interaction either builds trust or erodes trust.'</a:t>
            </a:r>
          </a:p>
          <a:p>
            <a:r>
              <a:t>- Suggested time: 3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Stakeholder engagement is not an imported novelty; it is enshrined in our Public Service Rules and SERVICOM Charters.</a:t>
            </a:r>
          </a:p>
          <a:p/>
          <a:p>
            <a:r>
              <a:t>FACILITATOR TALKING POINTS:</a:t>
            </a:r>
          </a:p>
          <a:p>
            <a:r>
              <a:t>- Left Column: Highlight OHCSF Federal Public Service Rules principles—Efficiency, Effectiveness, Performance, Due Process, and Probity.</a:t>
            </a:r>
          </a:p>
          <a:p>
            <a:r>
              <a:t>- Right Column: Connect directly to the SERVICOM mandate—published Service Standards, Citizen Expectations, Complaints Redress, and Feedback loops.</a:t>
            </a:r>
          </a:p>
          <a:p>
            <a:r>
              <a:t>- Punchline: 'Good administration must work for people, not only on paper.'</a:t>
            </a:r>
          </a:p>
          <a:p>
            <a:r>
              <a:t>- Suggested time: 4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The 5R Model is your practical, repeatable 5-step operational playbook for every project and reform.</a:t>
            </a:r>
          </a:p>
          <a:p/>
          <a:p>
            <a:r>
              <a:t>FACILITATOR TALKING POINTS:</a:t>
            </a:r>
          </a:p>
          <a:p>
            <a:r>
              <a:t>- Centerpiece takeaway: 1. RECOGNISE (Who matters?), 2. READ (What do they need?), 3. RELATE (How build trust?), 4. RESPOND (How engage &amp; decide?), 5. REVIEW (What did we learn?).</a:t>
            </a:r>
          </a:p>
          <a:p>
            <a:r>
              <a:t>- Invite delegates to memorize the rhythm: RECOGNISE → READ → RELATE → RESPOND → REVIEW.</a:t>
            </a:r>
          </a:p>
          <a:p>
            <a:r>
              <a:t>- Suggested time: 4-5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The most damaging administrative mistake is holding a consultation and then disappearing into institutional silence.</a:t>
            </a:r>
          </a:p>
          <a:p/>
          <a:p>
            <a:r>
              <a:t>FACILITATOR TALKING POINTS:</a:t>
            </a:r>
          </a:p>
          <a:p>
            <a:r>
              <a:t>- Follow the 5-stage loop: Listen → Decide → Communicate → Act → Follow up.</a:t>
            </a:r>
          </a:p>
          <a:p>
            <a:r>
              <a:t>- Emphasize the 3 non-negotiable updates: WHAT was decided, WHY it was decided, and WHAT happens next.</a:t>
            </a:r>
          </a:p>
          <a:p>
            <a:r>
              <a:t>- Explaining the rationale preserves relationships even when an outcome is unfavorable.</a:t>
            </a:r>
          </a:p>
          <a:p>
            <a:r>
              <a:t>- Suggested time: 3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CORE TAKEAWAY:</a:t>
            </a:r>
          </a:p>
          <a:p>
            <a:r>
              <a:t>Summarize the masterclass into a memorable, inspiring executive leadership charge.</a:t>
            </a:r>
          </a:p>
          <a:p/>
          <a:p>
            <a:r>
              <a:t>FACILITATOR TALKING POINTS:</a:t>
            </a:r>
          </a:p>
          <a:p>
            <a:r>
              <a:t>- Deliver the opening truth: 'People support what they understand.'</a:t>
            </a:r>
          </a:p>
          <a:p>
            <a:r>
              <a:t>- Reiterate the 4 conditions: When people feel HEARD, RESPECTED, FAIRLY TREATED, and INFORMED, resistance turns into collaboration.</a:t>
            </a:r>
          </a:p>
          <a:p>
            <a:r>
              <a:t>- Recite the closing manifesto with conviction:</a:t>
            </a:r>
          </a:p>
          <a:p>
            <a:r>
              <a:t>  • ENGAGE PEOPLE.</a:t>
            </a:r>
          </a:p>
          <a:p>
            <a:r>
              <a:t>  • UNDERSTAND INTERESTS.</a:t>
            </a:r>
          </a:p>
          <a:p>
            <a:r>
              <a:t>  • MANAGE EMOTIONS.</a:t>
            </a:r>
          </a:p>
          <a:p>
            <a:r>
              <a:t>  • RESPECT PROCEDURE.</a:t>
            </a:r>
          </a:p>
          <a:p>
            <a:r>
              <a:t>  • MAKE BETTER DECISIONS.</a:t>
            </a:r>
          </a:p>
          <a:p>
            <a:r>
              <a:t>- Open the floor for executive Q&amp;A, reflections, and panel discussion.</a:t>
            </a:r>
          </a:p>
          <a:p>
            <a:r>
              <a:t>- Suggested time: 2-3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ight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ight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ight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ight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ight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ight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ight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ight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ight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ight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ight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ight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ight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ight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ight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ight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